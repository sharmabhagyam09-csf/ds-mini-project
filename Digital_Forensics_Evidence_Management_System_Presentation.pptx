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420624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51560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FC3C6"/>
                </a:solidFill>
                <a:latin typeface="Aptos Display"/>
              </a:defRPr>
            </a:pPr>
            <a:r>
              <a:t>DIGITAL FORENSICS</a:t>
            </a:r>
          </a:p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Evidence Management System</a:t>
            </a:r>
          </a:p>
          <a:p>
            <a:pPr>
              <a:defRPr sz="1700">
                <a:solidFill>
                  <a:srgbClr val="CFE3E5"/>
                </a:solidFill>
                <a:latin typeface="Aptos"/>
              </a:defRPr>
            </a:pPr>
            <a:r>
              <a:t>DBMS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7180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FC3C6"/>
                </a:solidFill>
                <a:latin typeface="Aptos"/>
              </a:defRPr>
            </a:pPr>
            <a:r>
              <a:t>Team Members</a:t>
            </a:r>
          </a:p>
          <a:p>
            <a:pPr>
              <a:spcAft>
                <a:spcPts val="2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Bhagyam Sharma – 1262251510</a:t>
            </a:r>
          </a:p>
          <a:p>
            <a:pPr>
              <a:spcAft>
                <a:spcPts val="2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Preetam – 1262251544</a:t>
            </a:r>
          </a:p>
          <a:p>
            <a:pPr>
              <a:spcAft>
                <a:spcPts val="2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Vrukshita Vinod – 1262250376</a:t>
            </a:r>
          </a:p>
          <a:p>
            <a:pPr>
              <a:spcAft>
                <a:spcPts val="2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Gargi Dhote – 1262251463</a:t>
            </a:r>
          </a:p>
          <a:p>
            <a:pPr>
              <a:spcAft>
                <a:spcPts val="2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Gayatri – 1262251008</a:t>
            </a:r>
          </a:p>
          <a:p>
            <a:pPr>
              <a:defRPr sz="1200" b="1">
                <a:solidFill>
                  <a:srgbClr val="9FC3C6"/>
                </a:solidFill>
                <a:latin typeface="Aptos"/>
              </a:defRPr>
            </a:pPr>
            <a:r>
              <a:t>Guide: Anuradha Ma'am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6E6E"/>
                </a:solidFill>
                <a:latin typeface="Aptos Display"/>
              </a:defRPr>
            </a:pPr>
            <a:r>
              <a:t>1. 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8"/>
                </a:solidFill>
                <a:latin typeface="Aptos"/>
              </a:defRPr>
            </a:pPr>
            <a:r>
              <a:t>Why a digital evidence management system is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Problem Statement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Forensic teams handle disks, phones, logs and network captures. If evidence is lost, altered, or its handling is undocumented, its reliability and admissibility can be questioned. Spreadsheet-based tracking cannot reliably enforce integrity or show who handled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Proposed Solution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A relational database that stores cases, evidence, SHA-256 hashes, chain-of-custody records, analysis results, suspects and reports, while using database constraints to preserve integrity.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73152" cy="1874519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Objective 1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Centralize case and evidence information in structured relational 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73152" cy="160020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3520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Objective 2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Track every collection, transfer and access event through a custody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520440"/>
            <a:ext cx="73152" cy="160020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3520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Objective 3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Reduce redundancy and protect data using normalization, PK/FK, CHECK, UNIQUE and triggers.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520440"/>
            <a:ext cx="73152" cy="160020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1568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DBMS Mini Project  |  Digital Forensics Evidence Management System                                    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6E6E"/>
                </a:solidFill>
                <a:latin typeface="Aptos Display"/>
              </a:defRPr>
            </a:pPr>
            <a:r>
              <a:t>2. System Modules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8"/>
                </a:solidFill>
                <a:latin typeface="Aptos"/>
              </a:defRPr>
            </a:pPr>
            <a:r>
              <a:t>Main functional components derived from the project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5603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Case Management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Case ID, crime type, status, open/close dates and lead investigator.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572768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325880"/>
            <a:ext cx="25603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Evidence Management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Evidence type, description, source, SHA-256 hash and storage location.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25880"/>
            <a:ext cx="73152" cy="1572768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25603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Chain of Custody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Who collected, transferred or accessed evidence, with time and location.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73152" cy="1572768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0" y="1325880"/>
            <a:ext cx="25603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Investigators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Investigator details and many-to-many case assignments.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325880"/>
            <a:ext cx="73152" cy="1572768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11680" y="3383280"/>
            <a:ext cx="25603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Evidence Analysis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Tool used, findings, investigator and analysis date.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383280"/>
            <a:ext cx="73152" cy="1572768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92040" y="3383280"/>
            <a:ext cx="25603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Suspects / Entities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Persons, devices, accounts and IP addresses linked to cases.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3383280"/>
            <a:ext cx="73152" cy="1572768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3383280"/>
            <a:ext cx="25603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Reports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Case findings, final status and report date.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383280"/>
            <a:ext cx="73152" cy="1572768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234440" cy="566928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E6E"/>
                </a:solidFill>
                <a:latin typeface="Aptos"/>
              </a:defRPr>
            </a:pPr>
            <a:r>
              <a:t>Open Case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38528" y="5532120"/>
            <a:ext cx="1234440" cy="566928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E6E"/>
                </a:solidFill>
                <a:latin typeface="Aptos"/>
              </a:defRPr>
            </a:pPr>
            <a:r>
              <a:t>Collect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4136" y="5532120"/>
            <a:ext cx="1234440" cy="566928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E6E"/>
                </a:solidFill>
                <a:latin typeface="Aptos"/>
              </a:defRPr>
            </a:pPr>
            <a:r>
              <a:t>Compute SHA-256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9744" y="5532120"/>
            <a:ext cx="1234440" cy="566928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E6E"/>
                </a:solidFill>
                <a:latin typeface="Aptos"/>
              </a:defRPr>
            </a:pPr>
            <a:r>
              <a:t>Register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5532120"/>
            <a:ext cx="1234440" cy="566928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E6E"/>
                </a:solidFill>
                <a:latin typeface="Aptos"/>
              </a:defRPr>
            </a:pPr>
            <a:r>
              <a:t>Log Custody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5532120"/>
            <a:ext cx="1234440" cy="566928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E6E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568" y="5532120"/>
            <a:ext cx="1234440" cy="566928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E6E"/>
                </a:solidFill>
                <a:latin typeface="Aptos"/>
              </a:defRPr>
            </a:pPr>
            <a:r>
              <a:t>Generate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52176" y="5532120"/>
            <a:ext cx="1234440" cy="566928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E6E"/>
                </a:solidFill>
                <a:latin typeface="Aptos"/>
              </a:defRPr>
            </a:pPr>
            <a:r>
              <a:t>Close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1568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DBMS Mini Project  |  Digital Forensics Evidence Management System                                    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6E6E"/>
                </a:solidFill>
                <a:latin typeface="Aptos Display"/>
              </a:defRPr>
            </a:pPr>
            <a:r>
              <a:t>3.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8"/>
                </a:solidFill>
                <a:latin typeface="Aptos"/>
              </a:defRPr>
            </a:pPr>
            <a:r>
              <a:t>ER model converted into normalized relational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2240280" cy="777240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6E6E"/>
                </a:solidFill>
                <a:latin typeface="Aptos"/>
              </a:defRPr>
            </a:pPr>
            <a:r>
              <a:t>CASE_FILE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337560"/>
            <a:ext cx="2240280" cy="777240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6E6E"/>
                </a:solidFill>
                <a:latin typeface="Aptos"/>
              </a:defRPr>
            </a:pPr>
            <a:r>
              <a:t>INVESTIGATOR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2240280" cy="777240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6E6E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337560"/>
            <a:ext cx="2240280" cy="777240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6E6E"/>
                </a:solidFill>
                <a:latin typeface="Aptos"/>
              </a:defRPr>
            </a:pPr>
            <a:r>
              <a:t>CUSTODY_LOG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337560"/>
            <a:ext cx="2240280" cy="777240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6E6E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2240280" cy="777240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6E6E"/>
                </a:solidFill>
                <a:latin typeface="Aptos"/>
              </a:defRPr>
            </a:pPr>
            <a:r>
              <a:t>SUSPECT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4983480"/>
            <a:ext cx="2240280" cy="777240"/>
          </a:xfrm>
          <a:prstGeom prst="roundRect">
            <a:avLst/>
          </a:prstGeom>
          <a:solidFill>
            <a:srgbClr val="E4F2F2"/>
          </a:solidFill>
          <a:ln>
            <a:solidFill>
              <a:srgbClr val="0B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6E6E"/>
                </a:solidFill>
                <a:latin typeface="Aptos"/>
              </a:defRPr>
            </a:pPr>
            <a:r>
              <a:t>REPORT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37560" y="1810512"/>
            <a:ext cx="1280160" cy="0"/>
          </a:xfrm>
          <a:prstGeom prst="line">
            <a:avLst/>
          </a:prstGeom>
          <a:ln w="1905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21992" y="2194560"/>
            <a:ext cx="0" cy="1143000"/>
          </a:xfrm>
          <a:prstGeom prst="line">
            <a:avLst/>
          </a:prstGeom>
          <a:ln w="1905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42432" y="2194560"/>
            <a:ext cx="0" cy="1143000"/>
          </a:xfrm>
          <a:prstGeom prst="line">
            <a:avLst/>
          </a:prstGeom>
          <a:ln w="1905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0" y="1810512"/>
            <a:ext cx="1280160" cy="0"/>
          </a:xfrm>
          <a:prstGeom prst="line">
            <a:avLst/>
          </a:prstGeom>
          <a:ln w="1905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0" y="3730752"/>
            <a:ext cx="1280160" cy="0"/>
          </a:xfrm>
          <a:prstGeom prst="line">
            <a:avLst/>
          </a:prstGeom>
          <a:ln w="1905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742432" y="4114800"/>
            <a:ext cx="0" cy="868680"/>
          </a:xfrm>
          <a:prstGeom prst="line">
            <a:avLst/>
          </a:prstGeom>
          <a:ln w="1905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892040"/>
            <a:ext cx="10698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Key Relations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INVESTIGATOR | CASE_FILE | CASE_ASSIGNMENT | EVIDENCE | CUSTODY_LOG | ANALYSIS | SUSPECT | CASE_SUSPECT |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73152" cy="1143000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1568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DBMS Mini Project  |  Digital Forensics Evidence Management System                                    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6E6E"/>
                </a:solidFill>
                <a:latin typeface="Aptos Display"/>
              </a:defRPr>
            </a:pPr>
            <a:r>
              <a:t>4. Normalization &amp; 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8"/>
                </a:solidFill>
                <a:latin typeface="Aptos"/>
              </a:defRPr>
            </a:pPr>
            <a:r>
              <a:t>Reducing redundancy while protecting forensic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1NF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Repeating groups are removed. Each cell contains an atomic value; evidence and custody records are stored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" cy="164592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28016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2NF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Partial dependencies are removed. Case information and evidence information are separated from composite-key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280160"/>
            <a:ext cx="73152" cy="1645920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3NF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Transitive dependency is removed. Investigator details are stored in INVESTIGATOR while CASE_FILE keeps the foreign key.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73152" cy="164592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128016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BCNF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Each determinant is a candidate key. The project states that all 9 relations satisfy BCNF.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280160"/>
            <a:ext cx="73152" cy="1645920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Entity Integrity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PRIMARY KEY ensures uniqueness and prevents NULL key values.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29000"/>
            <a:ext cx="73152" cy="150876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Referential Integrity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FOREIGN KEY relationships prevent references to non-existing cases, evidence or investigators.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429000"/>
            <a:ext cx="73152" cy="150876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Enterprise Constraints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CHECK, UNIQUE and TRIGGER rules enforce business rules such as valid status values and protected custody logs.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429000"/>
            <a:ext cx="73152" cy="150876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257800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Tamper-Evident Custody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UPDATE and DELETE triggers make the custody log read-only, preserving the audit trail.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57800"/>
            <a:ext cx="73152" cy="658368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1568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DBMS Mini Project  |  Digital Forensics Evidence Management System                                    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B6E6E"/>
                </a:solidFill>
                <a:latin typeface="Aptos Display"/>
              </a:defRPr>
            </a:pPr>
            <a:r>
              <a:t>5. SQL Implementation &amp; Query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8"/>
                </a:solidFill>
                <a:latin typeface="Aptos"/>
              </a:defRPr>
            </a:pPr>
            <a:r>
              <a:t>How the DBMS enforces and retrieves forensic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SQL Database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MySQL-style DDL defines the 9 relations, primary keys, foreign keys, CHECK constraints and UNIQUE SHA-256 hashes.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" cy="182880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Important Queries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Open cases; evidence with case title; full custody history; evidence count per case; investigators assigned to cases; evidence never analysed.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73152" cy="182880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Query Processing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Parsing &amp; translation → optimization → evaluation. The project demonstrates pushing selection before joins to reduce the number of tuples processed.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73152" cy="182880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6583680" cy="2148840"/>
          </a:xfrm>
          <a:prstGeom prst="roundRect">
            <a:avLst/>
          </a:prstGeom>
          <a:solidFill>
            <a:srgbClr val="10222C"/>
          </a:solidFill>
          <a:ln>
            <a:solidFill>
              <a:srgbClr val="102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61264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5F0E6"/>
                </a:solidFill>
                <a:latin typeface="Consolas"/>
              </a:defRPr>
            </a:pPr>
            <a:r>
              <a:t>SELECT e.evidence_id, e.evidence_type, c.title</a:t>
            </a:r>
          </a:p>
          <a:p>
            <a:pPr>
              <a:defRPr sz="1100">
                <a:solidFill>
                  <a:srgbClr val="D5F0E6"/>
                </a:solidFill>
                <a:latin typeface="Consolas"/>
              </a:defRPr>
            </a:pPr>
            <a:r>
              <a:t>FROM evidence e JOIN case_file c</a:t>
            </a:r>
          </a:p>
          <a:p>
            <a:pPr>
              <a:defRPr sz="1100">
                <a:solidFill>
                  <a:srgbClr val="D5F0E6"/>
                </a:solidFill>
                <a:latin typeface="Consolas"/>
              </a:defRPr>
            </a:pPr>
            <a:r>
              <a:t>ON e.case_id = c.case_id;</a:t>
            </a:r>
          </a:p>
          <a:p>
            <a:pPr>
              <a:defRPr sz="1100">
                <a:solidFill>
                  <a:srgbClr val="D5F0E6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D5F0E6"/>
                </a:solidFill>
                <a:latin typeface="Consolas"/>
              </a:defRPr>
            </a:pPr>
            <a:r>
              <a:t>CREATE INDEX idx_custody_evidence</a:t>
            </a:r>
          </a:p>
          <a:p>
            <a:pPr>
              <a:defRPr sz="1100">
                <a:solidFill>
                  <a:srgbClr val="D5F0E6"/>
                </a:solidFill>
                <a:latin typeface="Consolas"/>
              </a:defRPr>
            </a:pPr>
            <a:r>
              <a:t>ON custody_log(evidence_id);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429000"/>
            <a:ext cx="4114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Security / Integrity Example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A foreign-key violation blocks insertion of evidence for a non-existent case. Custody triggers reject updates and deletions, helping preserve the audit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3429000"/>
            <a:ext cx="73152" cy="2148840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1568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DBMS Mini Project  |  Digital Forensics Evidence Management System                                    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6. 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0B6E6E"/>
                </a:solidFill>
                <a:latin typeface="Aptos"/>
              </a:defRPr>
            </a:pPr>
            <a:r>
              <a:t>Conclusion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The system keeps forensic evidence organized, traceable and verifiable. Normalization reduces redundancy, database constraints preserve integrity, and the custody log provides a tamper-resistant audit trail.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73152" cy="2057400"/>
          </a:xfrm>
          <a:prstGeom prst="rect">
            <a:avLst/>
          </a:prstGeom>
          <a:solidFill>
            <a:srgbClr val="0B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50876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28016" tIns="118872" bIns="73152"/>
          <a:lstStyle/>
          <a:p>
            <a:pPr algn="ctr">
              <a:spcAft>
                <a:spcPts val="500"/>
              </a:spcAft>
              <a:defRPr sz="1500" b="1">
                <a:solidFill>
                  <a:srgbClr val="B4462D"/>
                </a:solidFill>
                <a:latin typeface="Aptos"/>
              </a:defRPr>
            </a:pPr>
            <a:r>
              <a:t>Future Scope</a:t>
            </a:r>
          </a:p>
          <a:p>
            <a:pPr>
              <a:defRPr sz="1050">
                <a:solidFill>
                  <a:srgbClr val="14212B"/>
                </a:solidFill>
                <a:latin typeface="Aptos"/>
              </a:defRPr>
            </a:pPr>
            <a:r>
              <a:t>• Automatic hash verification</a:t>
            </a:r>
            <a:br/>
            <a:r>
              <a:t>• Role-based access control</a:t>
            </a:r>
            <a:br/>
            <a:r>
              <a:t>• File upload and secure storage</a:t>
            </a:r>
            <a:br/>
            <a:r>
              <a:t>• Dashboard with charts</a:t>
            </a:r>
            <a:br/>
            <a:r>
              <a:t>• PDF report export</a:t>
            </a:r>
            <a:br/>
            <a:r>
              <a:t>• Blockchain-backed audit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508760"/>
            <a:ext cx="73152" cy="2057400"/>
          </a:xfrm>
          <a:prstGeom prst="rect">
            <a:avLst/>
          </a:prstGeom>
          <a:solidFill>
            <a:srgbClr val="B4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9FC3C6"/>
                </a:solidFill>
                <a:latin typeface="Aptos"/>
              </a:defRPr>
            </a:pPr>
            <a:r>
              <a:t>Key Takeaway</a:t>
            </a:r>
          </a:p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A DBMS-based evidence system can combine structured data management with traceability, integrity constraints and forensic auditability.</a:t>
            </a:r>
          </a:p>
          <a:p>
            <a:pPr>
              <a:defRPr sz="2200" b="1">
                <a:solidFill>
                  <a:srgbClr val="9FC3C6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